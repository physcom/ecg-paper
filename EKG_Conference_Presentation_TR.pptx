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00000"/>
            <a:ext cx="12192119" cy="1800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908000"/>
            <a:ext cx="1111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12 Kanallı EKG Sınıflandırmasında Belirleyici Adım: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48000"/>
            <a:ext cx="11112119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CE6F5"/>
                </a:solidFill>
                <a:latin typeface="Calibri"/>
              </a:rPr>
              <a:t>Anti-Aliasing'li Altörnekleme ile Chapman–Shaoxing üzerinde
Temel 1D-CNN ile %88.43'ten %97.34'e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140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C3E50"/>
                </a:solidFill>
                <a:latin typeface="Calibri"/>
              </a:rPr>
              <a:t>Elaman Nazarkulov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11112119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F8C8D"/>
                </a:solidFill>
                <a:latin typeface="Calibri"/>
              </a:rPr>
              <a:t>Kırgız–Türk Manas Üniversitesi · Bilgisayar Mühendisliği Bölümü
Tez danışmanı: Doç. Dr. Bakıt Şarşembayev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120000"/>
            <a:ext cx="1111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Bahar 2026  ·  ICML formatında konferans sunumu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Motivasyon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Sorun olmaması gereken bir baseline'ın ana bulguya dönüşmesinin nedeni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12 kanallı EKG, kardiyak aritmi tanısında altın standarttır; ancak şehir merkezi dışındaki hastanelerde manuel okuma yavaş ve yetersizdir.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Derin 1D-CNN'ler kardiyolog seviyesinde doğruluk sağlar (Rajpurkar 2017, Hannun 2019) — ancak yayınlanan hatların neredeyse tamamı ham 500 Hz × 10 s = 5000 örneklik sinyali kullanır.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Önceki baseline'ımız (Güz 2025, Chapman–Shaoxing, 78 sınıf, 1D-CNN) Test Doğruluğu %88.43 / Makro F1 0.8713'te takılı kalmış; 11 sınıf F1 &lt; 0.60 düzeyinde çökmüştür.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Tez önerisindeki açık hedef: ≥ %90 doğruluk. Doğrudan iyileştirmeler (attention, focal loss, etiket birleştirme) yol haritasındaydı — ama doğrulanmaları yavaştı.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Sessiz gözlem: 5000 örnek, QRS-morfolojisi öğrenmek için gerçekten doğru alıcı alan uzunluğu mu, yoksa sensör örnekleme hızının bir kalıntısı mı?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Elaman Nazarkulov  ·  KTMÜ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Araştırma Sorusu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62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908000"/>
            <a:ext cx="1008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0B3D91"/>
                </a:solidFill>
                <a:latin typeface="Calibri"/>
              </a:rPr>
              <a:t>1D-CNN yalnızca QRS ölçeğinde zamansal örüntülere ihtiyaç duyuyorsa, girdi uzunluğunu agresif biçimde kesebilir miyiz — ve bu tek değişiklik düz bir baseline'ı elle tasarlanmış bir hibrit modelin ötesine taşıyabilir 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H1:  5000 örnek, CNN'in etkin alıcı alan ihtiyacından büyüktür.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H2:  Anti-aliasing'li altörnekleme (scipy.signal.decimate) tanısal içeriği korurken zamansal boyutu 5×–10× düşürür.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>
                <a:solidFill>
                  <a:srgbClr val="2C3E50"/>
                </a:solidFill>
                <a:latin typeface="Calibri"/>
              </a:rPr>
              <a:t>•  H3:  Baseline ile tam hibrit model arasındaki doğruluk farkı kısmen uzunluk-optimizasyonu kaynaklıdır — modelleme kaynaklı değildir.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Araştırma sorusu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İlgili Çalışmalar (özet)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Rajpurkar ve ark. 2017, Hannun ve ark. 2019 — kardiyolog seviyesinde CNN'ler, 91 bin EKG, hepsi tam örnekleme hızında eğitilmiş.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Oh ve ark. 2018 — CNN + LSTM hibrit, %94.8 doğruluk, standart örnekleme hızında girdi.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Strodthoff ve ark. 2020 (PTB-XL kıyaslaması) — 100 Hz / 1000 örneklik girdi zaten makro-AUC 0.925'e ulaşıyor. Tam 500 Hz'in zorunlu olmadığına dair ipucu.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Chen 2021, Xu 2022 — referans-düğüm / referans-nokta veri artırma; nadir sınıf sinyalleri için yararlı ama giriş uzunluğu çalışması yok.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Iwana &amp; Uchida 2021 — kapsamlı zaman serisi veri artırma incelemesi; örnekleme hızı seçimi sabit hiper-parametre olarak ele alınmış, tasarım değişkeni değil.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Boşluk: aynı koşullarda büyük bir çoklu-etiket 12 kanallı EKG külliyatında baseline CNN doğruluğunun giriş uzunluğuna göre sistematik karşılaştırması yok.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İlgili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Veri Seti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152000"/>
          <a:ext cx="1098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000"/>
                <a:gridCol w="2196000"/>
                <a:gridCol w="2196000"/>
                <a:gridCol w="2196000"/>
                <a:gridCol w="2196000"/>
              </a:tblGrid>
              <a:tr h="378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Veri seti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Kayıt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Kanal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Örnekleme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Chapman–Shaoxing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45.152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Ana deney (bu sunum)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PTB-XL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21.837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500 Hz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Veri setleri arası doğrulama (sonraki faz)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MIT-BIH Aritmi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360 → 500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Tarihsel referans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060000"/>
            <a:ext cx="109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Chapman–Shaoxing'te 78 etiket (kök 'X' için 'ECG: X' kopyaları dahil).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Sınıf dengesizliği: ilk 4 sınıf &gt; 5.000 her biri; 30+ sınıf &lt; 50 orijinal.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SQI &lt; 0.85 kayıtlar düşürüldü (ham verinin %6.7'si). Son kullanılabilir: 62.543.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4.500 örnek/sınıf hedefiyle aşırı örnekleme → 353 bin eğitim havuzu (katmanlı 68/12/20 eğitim/doğrulama/test).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Veri seti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Yöntem — Ön İşleme Hattı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Adım 6 (altörnekleme faktörü) hariç tüm konfigürasyonlarda aynı</a:t>
            </a:r>
          </a:p>
        </p:txBody>
      </p:sp>
      <p:sp>
        <p:nvSpPr>
          <p:cNvPr id="5" name="Oval 4"/>
          <p:cNvSpPr/>
          <p:nvPr/>
        </p:nvSpPr>
        <p:spPr>
          <a:xfrm>
            <a:off x="540000" y="1080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1116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500 Hz'e yeniden örnekleme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386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sinc interpolasyonu</a:t>
            </a:r>
          </a:p>
        </p:txBody>
      </p:sp>
      <p:sp>
        <p:nvSpPr>
          <p:cNvPr id="8" name="Oval 7"/>
          <p:cNvSpPr/>
          <p:nvPr/>
        </p:nvSpPr>
        <p:spPr>
          <a:xfrm>
            <a:off x="540000" y="1692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1728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Butterworth BP 0,5–150 Hz + 50 Hz çentik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998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şebeke girişimi ve YF gürültü giderimi</a:t>
            </a:r>
          </a:p>
        </p:txBody>
      </p:sp>
      <p:sp>
        <p:nvSpPr>
          <p:cNvPr id="11" name="Oval 10"/>
          <p:cNvSpPr/>
          <p:nvPr/>
        </p:nvSpPr>
        <p:spPr>
          <a:xfrm>
            <a:off x="540000" y="2304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2340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HP 0,5 Hz taban kayma giderimi</a:t>
            </a:r>
          </a:p>
        </p:txBody>
      </p:sp>
      <p:sp>
        <p:nvSpPr>
          <p:cNvPr id="13" name="Oval 12"/>
          <p:cNvSpPr/>
          <p:nvPr/>
        </p:nvSpPr>
        <p:spPr>
          <a:xfrm>
            <a:off x="540000" y="2915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951999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Kanal başına Z-skor + ±3σ kırpma</a:t>
            </a:r>
          </a:p>
        </p:txBody>
      </p:sp>
      <p:sp>
        <p:nvSpPr>
          <p:cNvPr id="15" name="Oval 14"/>
          <p:cNvSpPr/>
          <p:nvPr/>
        </p:nvSpPr>
        <p:spPr>
          <a:xfrm>
            <a:off x="540000" y="3528000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3564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Sabit 10 s segmentler (12 × 5000)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000" y="3834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katmanlı eğitim/doğrulama/test</a:t>
            </a:r>
          </a:p>
        </p:txBody>
      </p:sp>
      <p:sp>
        <p:nvSpPr>
          <p:cNvPr id="18" name="Oval 17"/>
          <p:cNvSpPr/>
          <p:nvPr/>
        </p:nvSpPr>
        <p:spPr>
          <a:xfrm>
            <a:off x="540000" y="4140000"/>
            <a:ext cx="396000" cy="396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4176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Anti-aliasing'li altörnekleme (yeni)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4446000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scipy.signal.decimate(x, q, ftype='iir', order=8)</a:t>
            </a:r>
          </a:p>
        </p:txBody>
      </p:sp>
      <p:sp>
        <p:nvSpPr>
          <p:cNvPr id="21" name="Oval 20"/>
          <p:cNvSpPr/>
          <p:nvPr/>
        </p:nvSpPr>
        <p:spPr>
          <a:xfrm>
            <a:off x="540000" y="4751999"/>
            <a:ext cx="396000" cy="39600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787999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Referans-düğüm veri artırma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000" y="5057999"/>
            <a:ext cx="1008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8C8D"/>
                </a:solidFill>
                <a:latin typeface="Calibri"/>
              </a:rPr>
              <a:t>yaygın için 3×, nadir sınıflar için 10×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Yöntem — 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Ana Değişiklik: Anti-Aliasing'li Altörnekleme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Ön işlemeye üç satırlık bir yama — başka hiçbir şey değişmiyor.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6480000" cy="2520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44000"/>
          <a:lstStyle/>
          <a:p>
            <a:pPr algn="ctr"/>
            <a:r>
              <a:rPr sz="1600">
                <a:solidFill>
                  <a:srgbClr val="E6E6EC"/>
                </a:solidFill>
                <a:latin typeface="Consolas"/>
              </a:rPr>
              <a:t>from scipy.signal import decimate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/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# faktor = 5  →  5000 → 1000 örnek  (100 Hz etkin)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# faktor = 10 →  5000 →  500 örnek  ( 50 Hz etkin)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x_down = decimate(x, factor,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ftype='iir',   # Chebyshev tip-I alt-geçiren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n=8,           # filtre derecesi</a:t>
            </a:r>
          </a:p>
          <a:p>
            <a:r>
              <a:rPr sz="1600">
                <a:solidFill>
                  <a:srgbClr val="E6E6EC"/>
                </a:solidFill>
                <a:latin typeface="Consolas"/>
              </a:rPr>
              <a:t>                  zero_phase=True)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260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Fazı korur (zero_phase=True).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Chebyshev tip-I, yeni Nyquist altında anti-aliasing yapar; QRS kompleksinin yapısal örtüşmesi olmaz.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Filtre çevrimdışı ve bir kez uygulanır — eğitim maliyeti yoktur.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Parametreler ve veri hijyeni 5000 örneklik baseline ile aynıdır (aynı seed, veri artırma, sınıf ağırlıkları).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Yöntem — altörnekleme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Neden İşe Yarıyor — Geometrik Değişmezlik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scipy.signal.decimate'in koruduğu şey: referans-nokta grafı (atım başına P / Q / R / S / T).</a:t>
            </a:r>
          </a:p>
        </p:txBody>
      </p:sp>
      <p:pic>
        <p:nvPicPr>
          <p:cNvPr id="5" name="Picture 4" descr="Figure_geometry_invariance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352" y="972000"/>
            <a:ext cx="7265296" cy="39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Alıcı 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2048 örneklik CNN penceresi artık girdinin %100'ünü kaplıyor; len=5000'de yaklaşık %40 idi.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2000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2000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Referans-nokta yoğunluğu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Yaklaşık 60 P/Q/R/S/T noktası len=500 girdisinin %12'sini kaplar; len=5000'de %1,2 idi — referans nokta başına 10× daha fazla gradyan sinyali.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3999" y="5112000"/>
            <a:ext cx="3528000" cy="144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3999" y="5237999"/>
            <a:ext cx="3168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Parametre ekonomisi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3999" y="5562000"/>
            <a:ext cx="3168000" cy="91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Aynı 3,72 M parametre, baseline modellemeden LVH, AV-blok, atriyal flutter gibi sınıfların morfolojisine yeniden tahsis edilir.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Neden işe yarıyor · geometrik değişmezlik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Deneysel Düzenek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Dört konfigürasyon yalnızca giriş uzunluğu / DataLoader işçilerinde farklı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000"/>
                <a:gridCol w="1830000"/>
                <a:gridCol w="1830000"/>
                <a:gridCol w="1830000"/>
                <a:gridCol w="1830000"/>
                <a:gridCol w="1830000"/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Giriş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Epoch (s)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Erken durma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Log dosyası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3,72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results-22-04-2026.txt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3,72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result-23-04-2026-1000.txt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3,72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result-22-04-2026-500.txt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işçi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× 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3,72 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≈ 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epoch 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result-23-04-2026-500-4-workers.txt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420000"/>
            <a:ext cx="109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GPU: NVIDIA RTX 5090, CUDA 12.8, AMP (FP16).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Kayıp: İkili çapraz entropi (çoklu etiket); ters frekans sınıf ağırlıkları.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Optimizer: Adam β1=0,9, β2=0,999, başlangıç LR 1e-3, ReduceLROnPlateau sabır 5.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Erken durma sabrı: doğrulama kaybı üzerinde 10 epoch. Maksimum 100 epoch.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Seed ve veri ayırmaları konfig boyunca sabit — doğrudan karşılaştırma için.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Deneysel düzenek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Bulgular — Manşet Rakamlar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080000"/>
          <a:ext cx="1098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71"/>
                <a:gridCol w="1568571"/>
                <a:gridCol w="1568571"/>
                <a:gridCol w="1568571"/>
                <a:gridCol w="1568571"/>
                <a:gridCol w="1568571"/>
                <a:gridCol w="1568574"/>
              </a:tblGrid>
              <a:tr h="50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Doğr.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Makro P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Makro R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Makro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Çıkarım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Güven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len=5000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%88,43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0,8768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0,8847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0,8713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89,88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%12,89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len=1000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%97,22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26,14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%68,88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%97,34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27,20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%76,23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len=500 + 4 işçi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%97,38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43,50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%69,59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960000"/>
            <a:ext cx="1098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  <a:latin typeface="Calibri"/>
              </a:rPr>
              <a:t>Δ (len=5000 → len=500): doğruluk +8,91 pp,  makro F1 +10,24 pp,  çıkarım 3,3× daha hızlı.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500000"/>
            <a:ext cx="10980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Tez önerisinden hedef (≥ %90) ve v2 hedefi (referans-düğüm veri artırma ile tam attention-CNN-LSTM hibrit için %94,8) — düz baseline'a yalnızca bir ön işleme değişikliğiyle aşılmıştır.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Bulgular — manşet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Bulgular — Karşılaştırma Şekli</a:t>
            </a:r>
          </a:p>
        </p:txBody>
      </p:sp>
      <p:pic>
        <p:nvPicPr>
          <p:cNvPr id="4" name="Picture 3" descr="Figure_seq_lengt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10800000" cy="3458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" y="4574281"/>
            <a:ext cx="108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7F8C8D"/>
                </a:solidFill>
                <a:latin typeface="Calibri"/>
              </a:rPr>
              <a:t>Şekil 1. Giriş uzunluğuna göre temel 1D-CNN performansı. Dört konfigürasyon için test doğruluğu, makro F1 ve çıkarım süresi (Chapman–Shaoxing, 78 sınıf).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Bulgular — şekil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Eğitim Dinamiği — Yan Yana 4 Konfig</a:t>
            </a:r>
          </a:p>
        </p:txBody>
      </p:sp>
      <p:pic>
        <p:nvPicPr>
          <p:cNvPr id="4" name="Picture 3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07999"/>
            <a:ext cx="3779999" cy="25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791999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len=5000</a:t>
            </a:r>
          </a:p>
        </p:txBody>
      </p:sp>
      <p:pic>
        <p:nvPicPr>
          <p:cNvPr id="6" name="Picture 5" descr="Figure_1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007999"/>
            <a:ext cx="1517039" cy="2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0000" y="791999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len=1000</a:t>
            </a:r>
          </a:p>
        </p:txBody>
      </p:sp>
      <p:pic>
        <p:nvPicPr>
          <p:cNvPr id="8" name="Picture 7" descr="Figure_1_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3780000"/>
            <a:ext cx="5026610" cy="252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3564000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</a:t>
            </a:r>
          </a:p>
        </p:txBody>
      </p:sp>
      <p:pic>
        <p:nvPicPr>
          <p:cNvPr id="10" name="Picture 9" descr="Figure_500_4_wo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00" y="3780000"/>
            <a:ext cx="3779999" cy="252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0000" y="3564000"/>
            <a:ext cx="55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3D91"/>
                </a:solidFill>
                <a:latin typeface="Calibri"/>
              </a:rPr>
              <a:t>len=500 + 4 işçi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Eğitim dinamiği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Sınıf Bazında İyileşme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Baseline'ın kırıldığı yerde, altörnekleme onu neredeyse tamamen düzeltiyor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098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000"/>
                <a:gridCol w="2745000"/>
                <a:gridCol w="2745000"/>
                <a:gridCol w="2745000"/>
              </a:tblGrid>
              <a:tr h="396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Sınıf (örnek sayısı = 900-1000)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len=500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Sol Ventriküler Hipertrofi (LVH)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EKG: Q dalgası anormalliği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0,180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İç iletim farkı / IV blok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Atriyoventriküler blok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0,324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0,984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Erken atriyal kontraksiyon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EKG: atriyal fibrilasyon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0,436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+0,51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EKG: ST segment değişiklikleri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Birinci derece AV blok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0,497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EKG: atriyal flutter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≥ 0,99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+0,41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5220000"/>
            <a:ext cx="1098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2C3E50"/>
                </a:solidFill>
                <a:latin typeface="Calibri"/>
              </a:rPr>
              <a:t>Tüm 11 hatalı sınıf F1 değeri, modele, kayba veya veri artırma reçetesine dokunulmadan ≥ 0,95'a yükselir. Darboğaz, girdiydi.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Sınıf bazında iyileşme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Hibrit-plan ablation: iki başlık taahhüdünün ayrıştırılması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Başlıktaki iki bağımsız taahhüdün etkisini ölçmek için 2×2 ablation gereklidir.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Tez başlığı iki bağımsız taahhüt içerir: (i) 12 kanallı girdi ve (ii) altörneklenmiş baseline üzerinde referans-düğüm veri artırma.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30 Nisan 2026'ya kadar bu ikisi her zaman birlikte değiştirildi — bu yüzden doğruluğu hangi kolun gerçekten taşıdığını söyleyemiyorduk.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Bu nedenle 2×2 ablation çalıştırıldı: {1 kanal, 12 kanal} × {artırma KAPALI, artırma AÇIK}, sabit altörnekleme=10 (len=500), aynı seed, aynı kod sürümü, Chapman–Shaoxing.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Her hücre, daha önce bildirilen len=500 referansıyla aynıdır: aynı 1D-CNN, aynı optimizer, aynı eğitim/doğrulama/test ayırması, aynı erken durma ölçütü.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Dört hücre şu soruyu cevaplar: 'başlığın hibrit planı +9 pp kazancın gerçek kaynağı mı, yoksa içeriklerden biri tüm işi mi yapıyor?'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Hibrit ablation · düzenek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Baskın kol: veri artırma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Referans-düğüm veri artırmasını açıp kapatmak doğruluğu ≈30 pp değiştirir — 12 kanal olsun ya da olmasın.</a:t>
            </a:r>
          </a:p>
        </p:txBody>
      </p:sp>
      <p:pic>
        <p:nvPicPr>
          <p:cNvPr id="5" name="Picture 4" descr="Figure_hybrid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120000" cy="2135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0000" y="1260000"/>
            <a:ext cx="50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artırma KAPALI → AÇIK: 1 kanal +30,36 pp doğruluk / +0,91 makro F1 (%67,14 → %97,50, 0,0682 → 0,9755).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artırma KAPALI → AÇIK: 12 kanal +29,11 pp doğruluk / +0,90 makro F1 (%68,29 → %97,40, 0,0762 → 0,9743).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Referans-düğüm yöntemi (oversampler) başlığın ampirik kalbidir — kanal sayısı değil.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Onsuz, uzun kuyruklu sınıflar makro F1'i 0,08'in üzerine taşımak için yeterli gradyanı asla biriktiremez — kaç kanal beslersek besleyelim.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Hibrit ablation · veri artırma kolu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Kanal sayısı bir kol değil, eşitliği bozan bir faktör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Veri artırma açıkken, 1 kanal ile 12 kanal seed gürültüsü düzeyinde.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0000" y="1080000"/>
          <a:ext cx="59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/>
                <a:gridCol w="1188000"/>
                <a:gridCol w="1188000"/>
                <a:gridCol w="1188000"/>
                <a:gridCol w="1188000"/>
              </a:tblGrid>
              <a:tr h="504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Konfig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Doğr.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Makro F1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Çıkarım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Güven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 kanal · artırma KAPALI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%67,14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0,0682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14,74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%60,01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kanal · artırma KAPALI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%68,29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0,0762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14,76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%87,88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 kanal · artırma AÇIK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%97,50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13,25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%77,38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12 kanal · artırma AÇIK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%97,40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0,9743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45,86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3E50"/>
                          </a:solidFill>
                          <a:latin typeface="Calibri"/>
                        </a:rPr>
                        <a:t>%90,15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80000" y="1080000"/>
            <a:ext cx="52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Artırma AÇIK iken: 1 kanal, 12 kanaldan 0,10 pp doğruluk ve 0,0012 makro F1 öndedir — bu külliyatın seed gürültü bandı içinde.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Artırma KAPALI iken: 12 kanal, 1 kanaldan 1,15 pp doğruluk ve 0,008 makro F1 öndedir — yine seed gürültü düzeyinde.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Altörnekleme tanısal sinyali referans-nokta grafında zaten yoğunlaştırmıştır — model aynı morfolojiyi geri kazanmak için 12 kanala ihtiyaç duymaz.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C3E50"/>
                </a:solidFill>
                <a:latin typeface="Calibri"/>
              </a:rPr>
              <a:t>•  Veri artırma altörneklenmiş girdiye uygulandığında, kanal sayısı doğruluk kolu değil, dağıtım seçimidir.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Hibrit ablation · kanal sayısı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Dağıtım çıkarımı: kenar (edge) vs hastane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Aynı doğruluk, farklı işletme noktası: hız vs güven.</a:t>
            </a:r>
          </a:p>
        </p:txBody>
      </p:sp>
      <p:pic>
        <p:nvPicPr>
          <p:cNvPr id="5" name="Picture 4" descr="Figure_hybrid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080000"/>
            <a:ext cx="6120000" cy="20766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0000" y="1260000"/>
            <a:ext cx="504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1 kanal, tek örnek CPU çıkarımında 12 kanaldan 3,5× daha hızlıdır (13,25 ms vs 45,86 ms).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12 kanal, ayrılmış bir örnekte daha yüksek softmax güveni verir (%90,15 vs %77,38) — güven-eşiği okumaları için daha geniş marj.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Kenar / giyilebilir dağıtım → 1 kanal: daha hızlı, aynı doğruluk, daha düşük donanım ve bant genişliği bütçesi.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Karar-başına güven raporlamalı hastane iş akışı → 12 kanal: doğruluk aynı, ancak kalibrasyon marjı daha geniştir.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Başlığın '12 kanal' taahhüdü bu nedenle tek bir sınıflandırıcı ailesinin hastane-sınıfı işletme noktası olarak okunmalıdır.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Hibrit ablation · dağıtım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Hız: Eğitim ve Çıkarım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84000"/>
            <a:ext cx="11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F8C8D"/>
                </a:solidFill>
                <a:latin typeface="Calibri"/>
              </a:rPr>
              <a:t>Daha kısa girdinin yan etkisi: deneyler etkileşimli hale geliyor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Epoch süresi (Chapman–Shaoxing, RTX 5090, AMP):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        ≈ 195 s / epoch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len=1000        ≈  32 s / epoch  (6,1× daha hızlı)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        ≈  30 s / epoch  (6,5× daha hızlı)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 + 4 iş. ≈  20 s / epoch  (9,8× daha hızlı)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Çıkarım (tek 12 kanallı örnek):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len=5000:  89,88 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     len=500:   27,20 ms  (3,3× daha hızlı)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080000"/>
            <a:ext cx="55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Hiper-parametre ayarı etkileşimli bir döngü oluyor (≈ 10 dk koşular).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DataLoader işçi sayısı=4, farkında olmadığımız bir G/Ç darboğazını ortaya çıkarıyor — model değişmeden epochda +%33 hızlanma.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Çıkarım, klinik 1 saniyelik bütçenin çok altında, CPU sınıfı marjda.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 Model dosyası boyut ve parametre sayısı olarak değişmez; CPU / kenar dağıtım da ≈3× çıkarım hızlanmasını bedavaya alır.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Hız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Neden Bu İşe Yarıyor?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Alıcı alan. 1D-CNN'imizin son katmanı len=5000'de ≈ 2048 giriş örneğini görür — 10 s'lik pencerenin büyük kısmını. QRS özellikleri rahatça ≈ 200 ms içine sığar (500 Hz'te 100 örnek). Daha kısa girdi gradyan sinyalini fizyolojik olarak ilgili örüntülere yoğunlaştırır.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Parametre ekonomisi. Aynı 3,72 M parametre artık 10× daha az zaman adımını modelliyor. Kapasite sınıf ayrımları için harcanır, gereksiz zamansal doldurmaya değil.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Etiket kopyaları kısmen soğurulur. 'EKG: atriyal flutter' ve 'Atriyal flutter' len=500'de F1 ≥ 0,95'a ulaşır — model uzun, ilgisiz uzantıları ezberlemek zorunda kalmadığında her ikisini de ezberleyebilir.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Anti-aliasing önemlidir. 10'a basit strided pooling katlanmış spektrum üretir; Chebyshev LP, '+10 pp F1' ile 'baseline'dan kötü' arasındaki farktır.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Veri artırma, attention veya kayıp mühendisliği nedeniyle çalışmaz — hepsi sabit tutulmuştur. Kazanç tamamen girdi temsilinde.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Tartışma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Sınırlamalar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Tek-veri-seti deneyi (Chapman–Shaoxing). PTB-XL veri setleri arası doğrulama önümüzdeki ayın önceliği.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Altörnekleme faktörünün 500 örneğin (50 Hz) altında ki tatlı noktası henüz karakterize edilmemiştir.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Yüksek frekanslı bilgi (geç-potansiyel notching, mikro-alternans) tasarım gereği kaldırılır — bunlara dayanan herhangi bir alt görev yeniden değerlendirilmelidir.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Temel 1D-CNN sabittir; giriş uzunluğu ile daha derin bir CNN veya CNN + attention etkileşimi henüz ölçülmemiştir.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>
                <a:solidFill>
                  <a:srgbClr val="2C3E50"/>
                </a:solidFill>
                <a:latin typeface="Calibri"/>
              </a:rPr>
              <a:t>•  Klinik güven skoru (tek örnek softmax) %12,9'dan %76,2'ye yükselmiştir, ancak dağıtım için sınıf-bazlı kalibrasyon hala gereklidir.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Sınırlamalar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Gelecek Çalışmalar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98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1.  PTB-XL üzerinde (yerli 100 Hz) altörneklemeli ve altörneklemesiz veri setleri arası doğrulama.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2.  Etiket taksonomisi temizliği: ≈ 23 'EKG: X' / 'X' kopyasını birleştir (→ ~55 sınıf) ve len=500 baseline'ı yeniden çalıştır.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3.  Decimate-500 girdisi üzerinde attention-CNN-LSTM tam model. Tahmin: geri kalan iyileşme çoğunlukla sınırda ST-segment / atriyal-taşikardi karışıklıklarında olacak.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4.  Focal loss γ ∈ {1,2,3} grid araması ve uyarlanabilir sınıf bazında eşikleme; beklenen ekstra +1–2 pp makro F1.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5.  Decimate-500 üzerinde GradCAM + SHAP: girdi zaten zamansal olarak sıkıştırıldığında attention zirveleri hâlâ P/QRS/T üzerine düşüyor mu?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6.  Kenar dağıtımı: INT8 kuantizasyon + anti-aliasing'li altörnekleme, Raspberry Pi 4'e &lt; 100 ms/örnek ile &lt; 1 pp doğruluk kaybıyla sığmalıdır.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>
                <a:solidFill>
                  <a:srgbClr val="2C3E50"/>
                </a:solidFill>
                <a:latin typeface="Calibri"/>
              </a:rPr>
              <a:t>•  7.  Gelecek EKG kıyaslamalarında altörneklemeyi tasarım değişkeni olarak raporla — hiper-parametre olarak değil.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Gelecek çalışmalar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12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11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Sonuç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440000"/>
            <a:ext cx="10800000" cy="1620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1728000"/>
            <a:ext cx="10080000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0B3D91"/>
                </a:solidFill>
                <a:latin typeface="Calibri"/>
              </a:rPr>
              <a:t>12 kanallı EKG çoklu etiket sınıflandırmasında, varsayılan 500 Hz × 10 s girdiyi 50 Hz × 10 s anti-aliasing'li sinyalle değiştirmek düz bir 1D-CNN'i %88,43'ten %97,34 test doğruluğuna çıkarır; çıkarım maliyeti 3,3× düşer, modelde hiçbir değişiklik olmaz.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420000"/>
            <a:ext cx="108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>
                <a:solidFill>
                  <a:srgbClr val="2C3E50"/>
                </a:solidFill>
                <a:latin typeface="Calibri"/>
              </a:rPr>
              <a:t>•  Baseline'daki en büyük tek kol, girdi temsiliydi.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>
                <a:solidFill>
                  <a:srgbClr val="2C3E50"/>
                </a:solidFill>
                <a:latin typeface="Calibri"/>
              </a:rPr>
              <a:t>•  Altörnekleme sonrası, başlığın hibrit planı için daha büyük kol referans-düğüm veri artırmadır — kanal sayısı değil.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>
                <a:solidFill>
                  <a:srgbClr val="2C3E50"/>
                </a:solidFill>
                <a:latin typeface="Calibri"/>
              </a:rPr>
              <a:t>•  Literatürdeki hedef rakamlar, modellemeden çok bir uzunluk-optimizasyon kalıntısı saklayabilir.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>
                <a:solidFill>
                  <a:srgbClr val="2C3E50"/>
                </a:solidFill>
                <a:latin typeface="Calibri"/>
              </a:rPr>
              <a:t>•  Planlı tüm hibrit-model / kayıp-mühendisliği iyileştirmeleri yol haritasında kalıyor — artık çok daha güçlü bir referans noktasından başlayarak.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6570000"/>
            <a:ext cx="7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F8C8D"/>
                </a:solidFill>
                <a:latin typeface="Calibri"/>
              </a:rPr>
              <a:t>Sonuç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2119" y="6570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F8C8D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20000"/>
            <a:ext cx="12192119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Teşekkürler.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2192119" cy="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DCE6F5"/>
                </a:solidFill>
                <a:latin typeface="Calibri"/>
              </a:rPr>
              <a:t>Sorular için hazırım.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20000"/>
            <a:ext cx="1219211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DCE6F5"/>
                </a:solidFill>
                <a:latin typeface="Calibri"/>
              </a:rPr>
              <a:t>Elaman Nazarkulov  ·  elaman.job@gmail.com  ·  KTMÜ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
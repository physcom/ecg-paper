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00000"/>
            <a:ext cx="12192119" cy="1800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908000"/>
            <a:ext cx="11112119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Less Is More for 12-Lead ECG Classification: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1112119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DCE6F5"/>
                </a:solidFill>
                <a:latin typeface="Calibri"/>
              </a:rPr>
              <a:t>Anti-Aliased Decimation Turns a 1D-CNN Baseline
From 88.4% to 97.4% on Chapman-Shaoxing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140000"/>
            <a:ext cx="11112119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Elaman Nazarkulov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11112119" cy="50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Kyrgyz–Turkish Manas University · Dept. of Computer Engineering
Thesis supervisor: Assoc. Prof. Bakıt Şarşembayev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12-lead ECG is the gold standard for cardiac arrhythmia diagnosis, but manual reads are slow and scarce outside urban hospitals.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Deep 1D-CNNs reach cardiologist-level accuracy (Rajpurkar 2017, Hannun 2019) — but almost all published pipelines feed the raw 500 Hz × 10 s = 5000-sample signal.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Our prior baseline (Güz 2025, Chapman-Shaoxing, 78 classes, 1D-CNN) stalled at Test Acc 88.43% / Macro-F1 0.8713, with 11 classes at F1 &lt; 0.60.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Explicit target from the thesis proposal: ≥ 90% accuracy. The straightforward fixes (attention, focal loss, label-merging) were on the roadmap — but slow to validate.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Quiet observation: is 5000 samples really the right receptive-field length for QRS-morphology learning, or a legacy of the sensor sampling rate?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Elaman Nazarkulov  ·  KTMÜ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2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908000"/>
            <a:ext cx="10080000" cy="1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1">
                <a:solidFill>
                  <a:srgbClr val="0B3D91"/>
                </a:solidFill>
                <a:latin typeface="Calibri"/>
              </a:rPr>
              <a:t>If the 1D-CNN only needs QRS-scale temporal patterns, can we cut the input length aggressively — and can that one change push a plain baseline past a hand-engineered hybrid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H1:  5000 samples is larger than the CNN's effective receptive need.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H2:  Anti-aliased decimation (scipy.signal.decimate) preserves the diagnostic content while collapsing the temporal dimension by 5×–10×.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H3:  The accuracy gap between baseline and full hybrid model is partly a length-optimisation artefact, not a modelling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Related Work (condensed)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Rajpurkar et al. 2017, Hannun et al. 2019 — cardiologist-level CNNs on 91 k ECGs, all trained at full sample rate.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Oh et al. 2018 — CNN + LSTM hybrid, 94.8% accuracy, standard sample rate input.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Strodthoff et al. 2020 (PTB-XL benchmark) — 100 Hz / 1000-sample input already reaches macro-AUC 0.925. Hint that full 500 Hz is not mandatory.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Chen 2021, Xu 2022 — 'support-node' / fiducial-point augmentation; useful for rare-class signals, but no input-length study.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Iwana &amp; Uchida 2021 — comprehensive time-series augmentation survey; sampling-rate choice treated as a fixed hyper-parameter, not a design variable.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Gap: no systematic comparison of baseline CNN accuracy vs. input length on a large multi-label 12-lead ECG corpus under otherwise identical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52000"/>
          <a:ext cx="10980000" cy="16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Sample rate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Chapman-Shaoxing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45,152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Main experiment (this talk)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PTB-XL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21,837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Cross-dataset validation (next phase)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MIT-BIH Arrhythmia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360 → 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Historical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060000"/>
            <a:ext cx="109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78 labels in Chapman-Shaoxing (incl. 'ECG: X' duplicates of root 'X').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Class imbalance: top 4 classes &gt; 5,000 each; 30+ classes &lt; 50 originals.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SQI &lt; 0.85 records dropped (6.7% of raw). Final usable: 62,543.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Over-sample target of 4,500 samples/class → 353 k training pool (stratified 68/12/20 train/val/test).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 —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Identical for all configurations except step 6 (decimation factor)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080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1116000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Re-sample to 500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386000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sinc interpolation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728000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Butterworth BP 0.5–150 Hz + 50 Hz notch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998000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powerline &amp; HF noise removal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04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340000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HP 0.5 Hz baseline-wander removal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915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951999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Per-lead Z-score + ±3σ clipping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3528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564000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Fixed 10 s segments (12 × 5000)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834000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stratified train/val/test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4140000"/>
            <a:ext cx="396000" cy="396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4176000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Anti-aliased decimation (new)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4446000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scipy.signal.decimate(x, q, ftype='iir', order=8)</a:t>
            </a:r>
          </a:p>
        </p:txBody>
      </p:sp>
      <p:sp>
        <p:nvSpPr>
          <p:cNvPr id="21" name="Oval 20"/>
          <p:cNvSpPr/>
          <p:nvPr/>
        </p:nvSpPr>
        <p:spPr>
          <a:xfrm>
            <a:off x="540000" y="4751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787999"/>
            <a:ext cx="10080000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Support-node augmentation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000" y="5057999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3× for common, 10× for rare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Method —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Core Change: Anti-Aliased Decimation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 three-line patch to preprocessing, nothing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1999"/>
            <a:ext cx="6480000" cy="313312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44000" rtlCol="0" anchor="ctr"/>
          <a:lstStyle/>
          <a:p>
            <a:pPr algn="ctr"/>
            <a:r>
              <a:rPr sz="1600" dirty="0">
                <a:solidFill>
                  <a:srgbClr val="E6E6EC"/>
                </a:solidFill>
                <a:latin typeface="Consolas"/>
              </a:rPr>
              <a:t>from </a:t>
            </a:r>
            <a:r>
              <a:rPr sz="1600" dirty="0" err="1">
                <a:solidFill>
                  <a:srgbClr val="E6E6EC"/>
                </a:solidFill>
                <a:latin typeface="Consolas"/>
              </a:rPr>
              <a:t>scipy.signal</a:t>
            </a:r>
            <a:r>
              <a:rPr sz="1600" dirty="0">
                <a:solidFill>
                  <a:srgbClr val="E6E6EC"/>
                </a:solidFill>
                <a:latin typeface="Consolas"/>
              </a:rPr>
              <a:t> import decimate</a:t>
            </a:r>
          </a:p>
          <a:p>
            <a:endParaRPr sz="1600" dirty="0">
              <a:solidFill>
                <a:srgbClr val="E6E6EC"/>
              </a:solidFill>
              <a:latin typeface="Consolas"/>
            </a:endParaRPr>
          </a:p>
          <a:p>
            <a:r>
              <a:rPr sz="1600" dirty="0">
                <a:solidFill>
                  <a:srgbClr val="E6E6EC"/>
                </a:solidFill>
                <a:latin typeface="Consolas"/>
              </a:rPr>
              <a:t># factor = 5  →  5000 → 1000 samples  (100 Hz effective)</a:t>
            </a:r>
          </a:p>
          <a:p>
            <a:r>
              <a:rPr sz="1600" dirty="0">
                <a:solidFill>
                  <a:srgbClr val="E6E6EC"/>
                </a:solidFill>
                <a:latin typeface="Consolas"/>
              </a:rPr>
              <a:t># factor = 10 →  5000 →  500 samples  ( 50 Hz effective)</a:t>
            </a:r>
          </a:p>
          <a:p>
            <a:r>
              <a:rPr sz="1600" dirty="0" err="1">
                <a:solidFill>
                  <a:srgbClr val="E6E6EC"/>
                </a:solidFill>
                <a:latin typeface="Consolas"/>
              </a:rPr>
              <a:t>x_down</a:t>
            </a:r>
            <a:r>
              <a:rPr sz="1600" dirty="0">
                <a:solidFill>
                  <a:srgbClr val="E6E6EC"/>
                </a:solidFill>
                <a:latin typeface="Consolas"/>
              </a:rPr>
              <a:t> = decimate(x, factor,</a:t>
            </a:r>
          </a:p>
          <a:p>
            <a:r>
              <a:rPr sz="1600" dirty="0">
                <a:solidFill>
                  <a:srgbClr val="E6E6EC"/>
                </a:solidFill>
                <a:latin typeface="Consolas"/>
              </a:rPr>
              <a:t>                  </a:t>
            </a:r>
            <a:r>
              <a:rPr sz="1600" dirty="0" err="1">
                <a:solidFill>
                  <a:srgbClr val="E6E6EC"/>
                </a:solidFill>
                <a:latin typeface="Consolas"/>
              </a:rPr>
              <a:t>ftype</a:t>
            </a:r>
            <a:r>
              <a:rPr sz="1600" dirty="0">
                <a:solidFill>
                  <a:srgbClr val="E6E6EC"/>
                </a:solidFill>
                <a:latin typeface="Consolas"/>
              </a:rPr>
              <a:t>='</a:t>
            </a:r>
            <a:r>
              <a:rPr sz="1600" dirty="0" err="1">
                <a:solidFill>
                  <a:srgbClr val="E6E6EC"/>
                </a:solidFill>
                <a:latin typeface="Consolas"/>
              </a:rPr>
              <a:t>iir</a:t>
            </a:r>
            <a:r>
              <a:rPr sz="1600" dirty="0">
                <a:solidFill>
                  <a:srgbClr val="E6E6EC"/>
                </a:solidFill>
                <a:latin typeface="Consolas"/>
              </a:rPr>
              <a:t>',   # Chebyshev type-I low-pass</a:t>
            </a:r>
          </a:p>
          <a:p>
            <a:r>
              <a:rPr sz="1600" dirty="0">
                <a:solidFill>
                  <a:srgbClr val="E6E6EC"/>
                </a:solidFill>
                <a:latin typeface="Consolas"/>
              </a:rPr>
              <a:t>                  n=8,           # filter order</a:t>
            </a:r>
          </a:p>
          <a:p>
            <a:r>
              <a:rPr sz="1600" dirty="0">
                <a:solidFill>
                  <a:srgbClr val="E6E6EC"/>
                </a:solidFill>
                <a:latin typeface="Consolas"/>
              </a:rPr>
              <a:t>                  </a:t>
            </a:r>
            <a:r>
              <a:rPr sz="1600" dirty="0" err="1">
                <a:solidFill>
                  <a:srgbClr val="E6E6EC"/>
                </a:solidFill>
                <a:latin typeface="Consolas"/>
              </a:rPr>
              <a:t>zero_phase</a:t>
            </a:r>
            <a:r>
              <a:rPr sz="1600" dirty="0">
                <a:solidFill>
                  <a:srgbClr val="E6E6EC"/>
                </a:solidFill>
                <a:latin typeface="Consolas"/>
              </a:rPr>
              <a:t>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260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Preserves the phase (zero_phase=True).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Chebyshev type-I anti-aliases below the new Nyquist, so no structured aliases of the QRS complex.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The filter is applied once, offline — no training cost.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Parameters and data hygiene are otherwise identical to the 5000-sample baseline (same seed, augmentation, class weights).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Method — decimation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It Works — Geometric Invariance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What scipy.signal.decimate preserves: the fiducial-point graph (P / Q / R / S / T per beat).</a:t>
            </a:r>
          </a:p>
        </p:txBody>
      </p:sp>
      <p:pic>
        <p:nvPicPr>
          <p:cNvPr id="5" name="Picture 4" descr="Figure_geometry_in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30" y="972000"/>
            <a:ext cx="7258940" cy="39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5237999"/>
            <a:ext cx="3168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Receptive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562000"/>
            <a:ext cx="3168000" cy="91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2048-sample CNN window now covers 100% of the input instead of ~40% at len=5000.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2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2000" y="5237999"/>
            <a:ext cx="3168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Fiducial-point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5562000"/>
            <a:ext cx="3168000" cy="91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≈60 P/Q/R/S/T points span 12% of the len=500 input vs 1.2% of len=5000 — 10× more gradient signal per fiducial.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3999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3999" y="5237999"/>
            <a:ext cx="3168000" cy="3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Parameter economy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3999" y="5562000"/>
            <a:ext cx="3168000" cy="91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Same 3.72M params reallocated from baseline modelling to morphology that distinguishes LVH, AV-block, atrial flutter,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Why it works · geometric invariance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All four configs differ only in input-length / DataLoader workers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225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Epoch (s)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Early stop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Log file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results-22-04-2026.txt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result-23-04-2026-1000.txt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result-22-04-2026-500.txt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workers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result-23-04-2026-500-4-workers.txt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420000"/>
            <a:ext cx="109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GPU: NVIDIA RTX 5090, CUDA 12.8, AMP (FP16).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Loss: Binary cross-entropy (multi-label); inverse-frequency class weights.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Optimiser: Adam β1=0.9, β2=0.999, initial LR 1e-3, ReduceLROnPlateau patience 5.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Early stopping patience: 10 epochs on val loss. Max 100 epochs.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Seed and data splits fixed across configs for direct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Headline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1098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8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8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P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88.43%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89.88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97.22%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26.14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68.88%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27.20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76.23%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workers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43.50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69.59%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960000"/>
            <a:ext cx="1098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Δ (len=5000 → len=500): accuracy +8.91 pp,  macro F1 +10.24 pp,  inference 3.3×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500000"/>
            <a:ext cx="10980000" cy="14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Target from thesis proposal (≥ 90 %) and from the v2 aspiration (94.8% for the full attention-CNN-LSTM hybrid with support-node augmentation) are both exceeded — with nothing but a preprocessing change to the plain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Results — 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Comparison Figure</a:t>
            </a:r>
          </a:p>
        </p:txBody>
      </p:sp>
      <p:pic>
        <p:nvPicPr>
          <p:cNvPr id="4" name="Picture 3" descr="Figure_seq_leng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10800000" cy="3458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4574281"/>
            <a:ext cx="10800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  <a:latin typeface="Calibri"/>
              </a:rPr>
              <a:t>Figure 1. Input length vs. baseline 1D-CNN performance. Test accuracy, macro F1, and inference time for all four configurations (Chapman-Shaoxing, 78 classes).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Results —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Training Dynamics — 4 Configs Side by Side</a:t>
            </a:r>
          </a:p>
        </p:txBody>
      </p:sp>
      <p:pic>
        <p:nvPicPr>
          <p:cNvPr id="4" name="Picture 3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3779999" cy="25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791999"/>
            <a:ext cx="55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len=5000</a:t>
            </a:r>
          </a:p>
        </p:txBody>
      </p:sp>
      <p:pic>
        <p:nvPicPr>
          <p:cNvPr id="6" name="Picture 5" descr="Figure_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007999"/>
            <a:ext cx="1517039" cy="2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791999"/>
            <a:ext cx="55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len=1000</a:t>
            </a:r>
          </a:p>
        </p:txBody>
      </p:sp>
      <p:pic>
        <p:nvPicPr>
          <p:cNvPr id="8" name="Picture 7" descr="Figure_1_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3780000"/>
            <a:ext cx="5026610" cy="25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564000"/>
            <a:ext cx="55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</a:t>
            </a:r>
          </a:p>
        </p:txBody>
      </p:sp>
      <p:pic>
        <p:nvPicPr>
          <p:cNvPr id="10" name="Picture 9" descr="Figure_500_4_wo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00" y="3780000"/>
            <a:ext cx="3779999" cy="25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0000" y="3564000"/>
            <a:ext cx="558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 + 4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Training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Per-Class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Where the baseline was broken, decimation fixes it almost completely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 (support = 900-1000)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Left Ventricular Hypertrophy (LVH)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Electrocardiogram: Q wave abnormal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Interior diff. conduction / IV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Atrioventricular block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Premature atrial contraction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atrial fibrillation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ST segment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First degree atrioventricular block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atrial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5220000"/>
            <a:ext cx="1098000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All 11 failure-class F1 scores recover to ≥ 0.95 without touching the model, the loss, or the augmentation recipe. The bottleneck was the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Per-class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Speed: Training and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Side effect of shorter input: experiments become 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Epoch time (Chapman-Shaoxing, RTX 5090, AMP):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        ≈ 195 s / epoch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len=1000        ≈  32 s / epoch  (6.1×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        ≈  30 s / epoch  (6.5×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+ 4 wrk ≈  20 s / epoch  (9.8×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Inference (single 12-lead sample):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len=5000:  89.88 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len=500:   27.20 ms  (3.3× faster)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Hyper-parameter tuning becomes an interactive loop (≈ 10 min runs).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DataLoader workers=4 uncovers an I/O bottleneck we did not know we had — another +33 % epoch speedup, no model change.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Inference well under the 1-second clinical budget, on CPU-class margins.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Model file unchanged in size and parameter count; CPU / edge deployment also gets the ≈3× inference speedup for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Does This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Receptive field.  Our 1D-CNN's last layer sees ≈ 2048 input samples at len=5000 — most of a 10 s window. QRS features fit comfortably in ≈ 200 ms (100 samples at 500 Hz). Shorter input concentrates gradient signal on physiologically-relevant patterns.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Parameter economy.  Same 3.72 M parameters now model 10× fewer timesteps. Capacity is spent on class distinctions, not on redundant temporal padding.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Label duplicates partly absorbed.  'ECG: atrial flutter' and 'Atrial flutter' both reach ≥ 0.95 F1 at len=500 — apparently the model can afford to memorise both when it is not also memorising long irrelevant stretches.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Anti-aliasing matters.  A naïve strided pooling by 10 produces folded spectra; the Chebyshev LP is the difference between '+10 pp F1' and 'worse than baseline'.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Does NOT work because of augmentation, attention, or loss engineering — all held constant. The win is purely in the input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Single-dataset experiment (Chapman-Shaoxing). PTB-XL cross-dataset validation is the next-month priority.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Sweet-spot for decimation factor is not characterised below 500 samples (50 Hz).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High-frequency information (late-potential notching, micro-alternans) is removed by design — any downstream task relying on them would need to be re-evaluated.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Baseline 1D-CNN is fixed; the interaction between input length and a deeper CNN, or CNN + attention, is not yet measured.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Clinical confidence score (single-sample softmax) rose from 12.9% to 76.2%, but still needs per-class calibration for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1.  Cross-dataset validation on PTB-XL (100 Hz native) with and without decimation.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2.  Label-taxonomy clean-up: merge the ≈ 23 'ECG: X' / 'X' duplicates (→ ~55 classes), then rerun len=500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3.  Attention-CNN-LSTM full model on decimate-500 input. Prediction: headroom remains mostly in borderline ST-segment / atrial-tachycardia confusions.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4.  Focal loss γ ∈ {1,2,3} grid search and adaptive per-class thresholding; expected extra +1–2 pp macro F1.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5.  GradCAM + SHAP on decimate-500: do the attention peaks still land on P/QRS/T when the input is already temporally compressed?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6.  Edge deployment: INT8 quantisation + anti-aliased decimation should fit on a Raspberry Pi 4 at &lt; 100 ms/sample with &lt; 1 pp accuracy loss.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7.  Report decimation as a design variable, not a hyper-parameter, in future EKG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44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728000"/>
            <a:ext cx="10080000" cy="1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1">
                <a:solidFill>
                  <a:srgbClr val="0B3D91"/>
                </a:solidFill>
                <a:latin typeface="Calibri"/>
              </a:rPr>
              <a:t>On 12-lead ECG multi-label classification, replacing the default 500 Hz × 10 s input with a 50 Hz × 10 s anti-aliased signal lifts a plain 1D-CNN from 88.43% to 97.34% test accuracy, at 3.3× lower inference cost, with no change 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The biggest single lever in the baseline was the input representation.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Aspirational numbers in the literature may hide a length-optimisation artefact more than a modelling one.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All planned hybrid-model / loss-engineering improvements remain on the roadmap — now starting from a much stronger reference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520000"/>
            <a:ext cx="12192119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2192119" cy="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DCE6F5"/>
                </a:solidFill>
                <a:latin typeface="Calibri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20000"/>
            <a:ext cx="121921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 dirty="0" err="1">
                <a:solidFill>
                  <a:srgbClr val="DCE6F5"/>
                </a:solidFill>
                <a:latin typeface="Calibri"/>
              </a:rPr>
              <a:t>Elaman</a:t>
            </a:r>
            <a:r>
              <a:rPr sz="1400" b="0" i="0" dirty="0">
                <a:solidFill>
                  <a:srgbClr val="DCE6F5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DCE6F5"/>
                </a:solidFill>
                <a:latin typeface="Calibri"/>
              </a:rPr>
              <a:t>Nazarkulov</a:t>
            </a:r>
            <a:r>
              <a:rPr sz="1400" b="0" i="0" dirty="0">
                <a:solidFill>
                  <a:srgbClr val="DCE6F5"/>
                </a:solidFill>
                <a:latin typeface="Calibri"/>
              </a:rPr>
              <a:t>  ·  </a:t>
            </a:r>
            <a:r>
              <a:rPr lang="en-US" sz="1400" dirty="0">
                <a:solidFill>
                  <a:srgbClr val="DCE6F5"/>
                </a:solidFill>
                <a:latin typeface="Calibri"/>
              </a:rPr>
              <a:t>2351Y01005</a:t>
            </a:r>
            <a:r>
              <a:rPr sz="1400" b="0" i="0" dirty="0">
                <a:solidFill>
                  <a:srgbClr val="DCE6F5"/>
                </a:solidFill>
                <a:latin typeface="Calibri"/>
              </a:rPr>
              <a:t>@</a:t>
            </a:r>
            <a:r>
              <a:rPr lang="en-US" sz="1400" b="0" i="0" dirty="0">
                <a:solidFill>
                  <a:srgbClr val="DCE6F5"/>
                </a:solidFill>
                <a:latin typeface="Calibri"/>
              </a:rPr>
              <a:t>manas.edu.kg</a:t>
            </a:r>
            <a:r>
              <a:rPr sz="1400" b="0" i="0" dirty="0">
                <a:solidFill>
                  <a:srgbClr val="DCE6F5"/>
                </a:solidFill>
                <a:latin typeface="Calibri"/>
              </a:rPr>
              <a:t>  ·  KTMÜ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2268</Words>
  <Application>Microsoft Office PowerPoint</Application>
  <PresentationFormat>Widescreen</PresentationFormat>
  <Paragraphs>292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Эламан Назаркулов</cp:lastModifiedBy>
  <cp:revision>3</cp:revision>
  <dcterms:created xsi:type="dcterms:W3CDTF">2013-01-27T09:14:16Z</dcterms:created>
  <dcterms:modified xsi:type="dcterms:W3CDTF">2026-05-18T05:16:58Z</dcterms:modified>
  <cp:category/>
</cp:coreProperties>
</file>